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</p:sldIdLst>
  <p:sldSz cx="19010313" cy="106934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2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3514" autoAdjust="0"/>
  </p:normalViewPr>
  <p:slideViewPr>
    <p:cSldViewPr>
      <p:cViewPr varScale="1">
        <p:scale>
          <a:sx n="55" d="100"/>
          <a:sy n="55" d="100"/>
        </p:scale>
        <p:origin x="533" y="48"/>
      </p:cViewPr>
      <p:guideLst>
        <p:guide orient="horz" pos="2160"/>
        <p:guide pos="724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8221\DSI\Visualization\Arrests%20and%20Strip%20Search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8221\DSI\Visualization\Arrests%20and%20Strip%20Searche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8221\DSI\Visualization\Arrests%20and%20Strip%20Searche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8221\DSI\Visualization\Arrests%20and%20Strip%20Searche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/>
              <a:t>2020 F</a:t>
            </a:r>
            <a:r>
              <a:rPr lang="en-US" altLang="zh-CN" sz="1800" b="1" dirty="0"/>
              <a:t>all </a:t>
            </a:r>
            <a:r>
              <a:rPr lang="en-US" altLang="zh-CN" sz="1800" dirty="0"/>
              <a:t>Arrests</a:t>
            </a:r>
            <a:r>
              <a:rPr lang="en-US" altLang="zh-CN" sz="1800" baseline="0" dirty="0"/>
              <a:t> by Race</a:t>
            </a:r>
            <a:endParaRPr lang="en-US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8D4-4D7C-A038-5EAAC7BE47D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8D4-4D7C-A038-5EAAC7BE47DF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8D4-4D7C-A038-5EAAC7BE47DF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8D4-4D7C-A038-5EAAC7BE47DF}"/>
              </c:ext>
            </c:extLst>
          </c:dPt>
          <c:cat>
            <c:strRef>
              <c:f>Sheet1!$O$5:$O$8</c:f>
              <c:strCache>
                <c:ptCount val="4"/>
                <c:pt idx="0">
                  <c:v>Asian</c:v>
                </c:pt>
                <c:pt idx="1">
                  <c:v>Black</c:v>
                </c:pt>
                <c:pt idx="2">
                  <c:v>Other</c:v>
                </c:pt>
                <c:pt idx="3">
                  <c:v>White</c:v>
                </c:pt>
              </c:strCache>
            </c:strRef>
          </c:cat>
          <c:val>
            <c:numRef>
              <c:f>Sheet1!$P$5:$P$8</c:f>
              <c:numCache>
                <c:formatCode>General</c:formatCode>
                <c:ptCount val="4"/>
                <c:pt idx="0">
                  <c:v>939</c:v>
                </c:pt>
                <c:pt idx="1">
                  <c:v>1913</c:v>
                </c:pt>
                <c:pt idx="2">
                  <c:v>1375</c:v>
                </c:pt>
                <c:pt idx="3">
                  <c:v>3001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8D4-4D7C-A038-5EAAC7BE47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1454589712"/>
        <c:axId val="1454590192"/>
      </c:barChart>
      <c:catAx>
        <c:axId val="1454589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4590192"/>
        <c:crosses val="autoZero"/>
        <c:auto val="1"/>
        <c:lblAlgn val="ctr"/>
        <c:lblOffset val="100"/>
        <c:noMultiLvlLbl val="0"/>
      </c:catAx>
      <c:valAx>
        <c:axId val="1454590192"/>
        <c:scaling>
          <c:orientation val="minMax"/>
          <c:max val="1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4589712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/>
              <a:t>2020 Spring</a:t>
            </a:r>
            <a:r>
              <a:rPr lang="en-US" altLang="zh-CN" sz="1800" b="1" dirty="0"/>
              <a:t> </a:t>
            </a:r>
            <a:r>
              <a:rPr lang="en-US" altLang="zh-CN" sz="1800" dirty="0"/>
              <a:t>Arrests</a:t>
            </a:r>
            <a:r>
              <a:rPr lang="en-US" altLang="zh-CN" sz="1800" baseline="0" dirty="0"/>
              <a:t> by Race</a:t>
            </a:r>
            <a:endParaRPr lang="en-US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9EF-47D2-BF30-BC13FA242F4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9EF-47D2-BF30-BC13FA242F46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9EF-47D2-BF30-BC13FA242F46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9EF-47D2-BF30-BC13FA242F46}"/>
              </c:ext>
            </c:extLst>
          </c:dPt>
          <c:cat>
            <c:strRef>
              <c:f>Sheet1!$O$10:$O$13</c:f>
              <c:strCache>
                <c:ptCount val="4"/>
                <c:pt idx="0">
                  <c:v>Asian</c:v>
                </c:pt>
                <c:pt idx="1">
                  <c:v>Black</c:v>
                </c:pt>
                <c:pt idx="2">
                  <c:v>Other</c:v>
                </c:pt>
                <c:pt idx="3">
                  <c:v>White</c:v>
                </c:pt>
              </c:strCache>
            </c:strRef>
          </c:cat>
          <c:val>
            <c:numRef>
              <c:f>Sheet1!$P$10:$P$13</c:f>
              <c:numCache>
                <c:formatCode>General</c:formatCode>
                <c:ptCount val="4"/>
                <c:pt idx="0">
                  <c:v>2857</c:v>
                </c:pt>
                <c:pt idx="1">
                  <c:v>6735</c:v>
                </c:pt>
                <c:pt idx="2">
                  <c:v>4553</c:v>
                </c:pt>
                <c:pt idx="3">
                  <c:v>10606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9EF-47D2-BF30-BC13FA242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1454589712"/>
        <c:axId val="1454590192"/>
      </c:barChart>
      <c:catAx>
        <c:axId val="1454589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4590192"/>
        <c:crosses val="autoZero"/>
        <c:auto val="1"/>
        <c:lblAlgn val="ctr"/>
        <c:lblOffset val="100"/>
        <c:noMultiLvlLbl val="0"/>
      </c:catAx>
      <c:valAx>
        <c:axId val="1454590192"/>
        <c:scaling>
          <c:orientation val="minMax"/>
          <c:max val="1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4589712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/>
              <a:t>2021 Spring</a:t>
            </a:r>
            <a:r>
              <a:rPr lang="en-US" altLang="zh-CN" sz="1800" dirty="0"/>
              <a:t> Arrests</a:t>
            </a:r>
            <a:r>
              <a:rPr lang="en-US" altLang="zh-CN" sz="1800" baseline="0" dirty="0"/>
              <a:t> by Race</a:t>
            </a:r>
            <a:endParaRPr lang="en-US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1C5-4EF7-BBF0-1A29073A80FB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1C5-4EF7-BBF0-1A29073A80FB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1C5-4EF7-BBF0-1A29073A80FB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1C5-4EF7-BBF0-1A29073A80FB}"/>
              </c:ext>
            </c:extLst>
          </c:dPt>
          <c:cat>
            <c:strRef>
              <c:f>Sheet1!$O$21:$O$24</c:f>
              <c:strCache>
                <c:ptCount val="4"/>
                <c:pt idx="0">
                  <c:v>Asian</c:v>
                </c:pt>
                <c:pt idx="1">
                  <c:v>Black</c:v>
                </c:pt>
                <c:pt idx="2">
                  <c:v>Other</c:v>
                </c:pt>
                <c:pt idx="3">
                  <c:v>White</c:v>
                </c:pt>
              </c:strCache>
            </c:strRef>
          </c:cat>
          <c:val>
            <c:numRef>
              <c:f>Sheet1!$P$21:$P$24</c:f>
              <c:numCache>
                <c:formatCode>General</c:formatCode>
                <c:ptCount val="4"/>
                <c:pt idx="0">
                  <c:v>1014</c:v>
                </c:pt>
                <c:pt idx="1">
                  <c:v>2214</c:v>
                </c:pt>
                <c:pt idx="2">
                  <c:v>1520</c:v>
                </c:pt>
                <c:pt idx="3">
                  <c:v>3515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1C5-4EF7-BBF0-1A29073A80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1454589712"/>
        <c:axId val="1454590192"/>
      </c:barChart>
      <c:catAx>
        <c:axId val="1454589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4590192"/>
        <c:crosses val="autoZero"/>
        <c:auto val="1"/>
        <c:lblAlgn val="ctr"/>
        <c:lblOffset val="100"/>
        <c:noMultiLvlLbl val="0"/>
      </c:catAx>
      <c:valAx>
        <c:axId val="1454590192"/>
        <c:scaling>
          <c:orientation val="minMax"/>
          <c:max val="1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4589712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/>
              <a:t>2021</a:t>
            </a:r>
            <a:r>
              <a:rPr lang="en-US" sz="1800" dirty="0"/>
              <a:t> </a:t>
            </a:r>
            <a:r>
              <a:rPr lang="en-US" sz="1800" b="1" dirty="0"/>
              <a:t>Fall</a:t>
            </a:r>
            <a:r>
              <a:rPr lang="en-US" altLang="zh-CN" sz="1800" dirty="0"/>
              <a:t> Arrests</a:t>
            </a:r>
            <a:r>
              <a:rPr lang="en-US" altLang="zh-CN" sz="1800" baseline="0" dirty="0"/>
              <a:t> by Race</a:t>
            </a:r>
            <a:endParaRPr lang="en-US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3C-4F46-88C5-DF0954206DA8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B3C-4F46-88C5-DF0954206DA8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B3C-4F46-88C5-DF0954206DA8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B3C-4F46-88C5-DF0954206DA8}"/>
              </c:ext>
            </c:extLst>
          </c:dPt>
          <c:cat>
            <c:strRef>
              <c:f>Sheet1!$O$16:$O$19</c:f>
              <c:strCache>
                <c:ptCount val="4"/>
                <c:pt idx="0">
                  <c:v>Asian</c:v>
                </c:pt>
                <c:pt idx="1">
                  <c:v>Black</c:v>
                </c:pt>
                <c:pt idx="2">
                  <c:v>Other</c:v>
                </c:pt>
                <c:pt idx="3">
                  <c:v>White</c:v>
                </c:pt>
              </c:strCache>
            </c:strRef>
          </c:cat>
          <c:val>
            <c:numRef>
              <c:f>Sheet1!$P$16:$P$19</c:f>
              <c:numCache>
                <c:formatCode>General</c:formatCode>
                <c:ptCount val="4"/>
                <c:pt idx="0">
                  <c:v>1172</c:v>
                </c:pt>
                <c:pt idx="1">
                  <c:v>2193</c:v>
                </c:pt>
                <c:pt idx="2">
                  <c:v>1545</c:v>
                </c:pt>
                <c:pt idx="3">
                  <c:v>3567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B3C-4F46-88C5-DF0954206D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84"/>
        <c:axId val="1454589712"/>
        <c:axId val="1454590192"/>
      </c:barChart>
      <c:catAx>
        <c:axId val="1454589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4590192"/>
        <c:crosses val="autoZero"/>
        <c:auto val="1"/>
        <c:lblAlgn val="ctr"/>
        <c:lblOffset val="100"/>
        <c:noMultiLvlLbl val="0"/>
      </c:catAx>
      <c:valAx>
        <c:axId val="1454590192"/>
        <c:scaling>
          <c:orientation val="minMax"/>
          <c:max val="1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4589712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5306" y="2130428"/>
            <a:ext cx="1955346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50612" y="3886200"/>
            <a:ext cx="1610285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7163" y="4406903"/>
            <a:ext cx="1955346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17163" y="2906714"/>
            <a:ext cx="1955346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1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2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4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5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7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9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71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0204" y="1600203"/>
            <a:ext cx="10160134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693739" y="1600203"/>
            <a:ext cx="10160134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0204" y="1535113"/>
            <a:ext cx="1016412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4" indent="0">
              <a:buNone/>
              <a:defRPr sz="2000" b="1"/>
            </a:lvl2pPr>
            <a:lvl3pPr marL="914428" indent="0">
              <a:buNone/>
              <a:defRPr sz="1800" b="1"/>
            </a:lvl3pPr>
            <a:lvl4pPr marL="1371642" indent="0">
              <a:buNone/>
              <a:defRPr sz="1600" b="1"/>
            </a:lvl4pPr>
            <a:lvl5pPr marL="1828856" indent="0">
              <a:buNone/>
              <a:defRPr sz="1600" b="1"/>
            </a:lvl5pPr>
            <a:lvl6pPr marL="2286070" indent="0">
              <a:buNone/>
              <a:defRPr sz="1600" b="1"/>
            </a:lvl6pPr>
            <a:lvl7pPr marL="2743284" indent="0">
              <a:buNone/>
              <a:defRPr sz="1600" b="1"/>
            </a:lvl7pPr>
            <a:lvl8pPr marL="3200497" indent="0">
              <a:buNone/>
              <a:defRPr sz="1600" b="1"/>
            </a:lvl8pPr>
            <a:lvl9pPr marL="365771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0204" y="2174875"/>
            <a:ext cx="1016412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685755" y="1535113"/>
            <a:ext cx="1016812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4" indent="0">
              <a:buNone/>
              <a:defRPr sz="2000" b="1"/>
            </a:lvl2pPr>
            <a:lvl3pPr marL="914428" indent="0">
              <a:buNone/>
              <a:defRPr sz="1800" b="1"/>
            </a:lvl3pPr>
            <a:lvl4pPr marL="1371642" indent="0">
              <a:buNone/>
              <a:defRPr sz="1600" b="1"/>
            </a:lvl4pPr>
            <a:lvl5pPr marL="1828856" indent="0">
              <a:buNone/>
              <a:defRPr sz="1600" b="1"/>
            </a:lvl5pPr>
            <a:lvl6pPr marL="2286070" indent="0">
              <a:buNone/>
              <a:defRPr sz="1600" b="1"/>
            </a:lvl6pPr>
            <a:lvl7pPr marL="2743284" indent="0">
              <a:buNone/>
              <a:defRPr sz="1600" b="1"/>
            </a:lvl7pPr>
            <a:lvl8pPr marL="3200497" indent="0">
              <a:buNone/>
              <a:defRPr sz="1600" b="1"/>
            </a:lvl8pPr>
            <a:lvl9pPr marL="365771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685755" y="2174875"/>
            <a:ext cx="1016812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207" y="273050"/>
            <a:ext cx="75681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3955" y="273053"/>
            <a:ext cx="1285991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0207" y="1435103"/>
            <a:ext cx="75681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14" indent="0">
              <a:buNone/>
              <a:defRPr sz="1200"/>
            </a:lvl2pPr>
            <a:lvl3pPr marL="914428" indent="0">
              <a:buNone/>
              <a:defRPr sz="1000"/>
            </a:lvl3pPr>
            <a:lvl4pPr marL="1371642" indent="0">
              <a:buNone/>
              <a:defRPr sz="900"/>
            </a:lvl4pPr>
            <a:lvl5pPr marL="1828856" indent="0">
              <a:buNone/>
              <a:defRPr sz="900"/>
            </a:lvl5pPr>
            <a:lvl6pPr marL="2286070" indent="0">
              <a:buNone/>
              <a:defRPr sz="900"/>
            </a:lvl6pPr>
            <a:lvl7pPr marL="2743284" indent="0">
              <a:buNone/>
              <a:defRPr sz="900"/>
            </a:lvl7pPr>
            <a:lvl8pPr marL="3200497" indent="0">
              <a:buNone/>
              <a:defRPr sz="900"/>
            </a:lvl8pPr>
            <a:lvl9pPr marL="365771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8960" y="4800600"/>
            <a:ext cx="1380244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08960" y="612775"/>
            <a:ext cx="1380244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14" indent="0">
              <a:buNone/>
              <a:defRPr sz="2800"/>
            </a:lvl2pPr>
            <a:lvl3pPr marL="914428" indent="0">
              <a:buNone/>
              <a:defRPr sz="2400"/>
            </a:lvl3pPr>
            <a:lvl4pPr marL="1371642" indent="0">
              <a:buNone/>
              <a:defRPr sz="2000"/>
            </a:lvl4pPr>
            <a:lvl5pPr marL="1828856" indent="0">
              <a:buNone/>
              <a:defRPr sz="2000"/>
            </a:lvl5pPr>
            <a:lvl6pPr marL="2286070" indent="0">
              <a:buNone/>
              <a:defRPr sz="2000"/>
            </a:lvl6pPr>
            <a:lvl7pPr marL="2743284" indent="0">
              <a:buNone/>
              <a:defRPr sz="2000"/>
            </a:lvl7pPr>
            <a:lvl8pPr marL="3200497" indent="0">
              <a:buNone/>
              <a:defRPr sz="2000"/>
            </a:lvl8pPr>
            <a:lvl9pPr marL="3657712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08960" y="5367338"/>
            <a:ext cx="1380244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14" indent="0">
              <a:buNone/>
              <a:defRPr sz="1200"/>
            </a:lvl2pPr>
            <a:lvl3pPr marL="914428" indent="0">
              <a:buNone/>
              <a:defRPr sz="1000"/>
            </a:lvl3pPr>
            <a:lvl4pPr marL="1371642" indent="0">
              <a:buNone/>
              <a:defRPr sz="900"/>
            </a:lvl4pPr>
            <a:lvl5pPr marL="1828856" indent="0">
              <a:buNone/>
              <a:defRPr sz="900"/>
            </a:lvl5pPr>
            <a:lvl6pPr marL="2286070" indent="0">
              <a:buNone/>
              <a:defRPr sz="900"/>
            </a:lvl6pPr>
            <a:lvl7pPr marL="2743284" indent="0">
              <a:buNone/>
              <a:defRPr sz="900"/>
            </a:lvl7pPr>
            <a:lvl8pPr marL="3200497" indent="0">
              <a:buNone/>
              <a:defRPr sz="900"/>
            </a:lvl8pPr>
            <a:lvl9pPr marL="365771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677955" y="274641"/>
            <a:ext cx="5175917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204" y="274641"/>
            <a:ext cx="151443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50204" y="274638"/>
            <a:ext cx="2070366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0204" y="1600203"/>
            <a:ext cx="20703669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0204" y="6356353"/>
            <a:ext cx="53676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59726" y="6356353"/>
            <a:ext cx="72846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486255" y="6356353"/>
            <a:ext cx="53676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2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11" indent="-342911" algn="l" defTabSz="91442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73" indent="-285759" algn="l" defTabSz="91442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35" indent="-228607" algn="l" defTabSz="91442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9" indent="-228607" algn="l" defTabSz="91442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63" indent="-228607" algn="l" defTabSz="91442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77" indent="-228607" algn="l" defTabSz="91442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90" indent="-228607" algn="l" defTabSz="91442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05" indent="-228607" algn="l" defTabSz="91442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19" indent="-228607" algn="l" defTabSz="91442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4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8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42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56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70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84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97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12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svg"/><Relationship Id="rId3" Type="http://schemas.openxmlformats.org/officeDocument/2006/relationships/chart" Target="../charts/chart2.xml"/><Relationship Id="rId7" Type="http://schemas.openxmlformats.org/officeDocument/2006/relationships/image" Target="../media/image2.svg"/><Relationship Id="rId12" Type="http://schemas.openxmlformats.org/officeDocument/2006/relationships/image" Target="../media/image7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6.svg"/><Relationship Id="rId5" Type="http://schemas.openxmlformats.org/officeDocument/2006/relationships/chart" Target="../charts/chart4.xml"/><Relationship Id="rId15" Type="http://schemas.openxmlformats.org/officeDocument/2006/relationships/image" Target="../media/image10.svg"/><Relationship Id="rId10" Type="http://schemas.openxmlformats.org/officeDocument/2006/relationships/image" Target="../media/image5.png"/><Relationship Id="rId4" Type="http://schemas.openxmlformats.org/officeDocument/2006/relationships/chart" Target="../charts/chart3.xml"/><Relationship Id="rId9" Type="http://schemas.openxmlformats.org/officeDocument/2006/relationships/image" Target="../media/image4.svg"/><Relationship Id="rId1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29F9C99-B302-FC89-75E2-2B8CA2FF6C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6963542"/>
              </p:ext>
            </p:extLst>
          </p:nvPr>
        </p:nvGraphicFramePr>
        <p:xfrm>
          <a:off x="4788376" y="2512060"/>
          <a:ext cx="4572000" cy="27317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3FEAA5F-C8B7-4CE1-A922-7C1C59E5C1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6452495"/>
              </p:ext>
            </p:extLst>
          </p:nvPr>
        </p:nvGraphicFramePr>
        <p:xfrm>
          <a:off x="4780756" y="561993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E778703-A385-4B1D-AF16-94B8D51EDE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7672237"/>
              </p:ext>
            </p:extLst>
          </p:nvPr>
        </p:nvGraphicFramePr>
        <p:xfrm>
          <a:off x="9872903" y="563688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AAAB9FF-EF8C-4B9F-AF8D-A4571FD45C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4348872"/>
              </p:ext>
            </p:extLst>
          </p:nvPr>
        </p:nvGraphicFramePr>
        <p:xfrm>
          <a:off x="9809956" y="251206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Freeform 13">
            <a:extLst>
              <a:ext uri="{FF2B5EF4-FFF2-40B4-BE49-F238E27FC236}">
                <a16:creationId xmlns:a16="http://schemas.microsoft.com/office/drawing/2014/main" id="{62F6391A-F0F8-0D94-66DF-5F45F64A9C0C}"/>
              </a:ext>
            </a:extLst>
          </p:cNvPr>
          <p:cNvSpPr/>
          <p:nvPr/>
        </p:nvSpPr>
        <p:spPr>
          <a:xfrm>
            <a:off x="4820593" y="5326864"/>
            <a:ext cx="811646" cy="770049"/>
          </a:xfrm>
          <a:custGeom>
            <a:avLst/>
            <a:gdLst/>
            <a:ahLst/>
            <a:cxnLst/>
            <a:rect l="l" t="t" r="r" b="b"/>
            <a:pathLst>
              <a:path w="3024000" h="2869020">
                <a:moveTo>
                  <a:pt x="0" y="0"/>
                </a:moveTo>
                <a:lnTo>
                  <a:pt x="3024000" y="0"/>
                </a:lnTo>
                <a:lnTo>
                  <a:pt x="3024000" y="2869020"/>
                </a:lnTo>
                <a:lnTo>
                  <a:pt x="0" y="28690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2CD0D57-ED76-F75F-F25A-2E072F9FA14F}"/>
              </a:ext>
            </a:extLst>
          </p:cNvPr>
          <p:cNvSpPr/>
          <p:nvPr/>
        </p:nvSpPr>
        <p:spPr>
          <a:xfrm>
            <a:off x="4628358" y="1869781"/>
            <a:ext cx="1196116" cy="1122854"/>
          </a:xfrm>
          <a:custGeom>
            <a:avLst/>
            <a:gdLst/>
            <a:ahLst/>
            <a:cxnLst/>
            <a:rect l="l" t="t" r="r" b="b"/>
            <a:pathLst>
              <a:path w="3024000" h="2838780">
                <a:moveTo>
                  <a:pt x="0" y="0"/>
                </a:moveTo>
                <a:lnTo>
                  <a:pt x="3024000" y="0"/>
                </a:lnTo>
                <a:lnTo>
                  <a:pt x="3024000" y="2838780"/>
                </a:lnTo>
                <a:lnTo>
                  <a:pt x="0" y="28387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2C1A018-F16E-DA92-F4D6-8D1CE556389B}"/>
              </a:ext>
            </a:extLst>
          </p:cNvPr>
          <p:cNvSpPr/>
          <p:nvPr/>
        </p:nvSpPr>
        <p:spPr>
          <a:xfrm>
            <a:off x="13535030" y="2534920"/>
            <a:ext cx="1014165" cy="1059180"/>
          </a:xfrm>
          <a:custGeom>
            <a:avLst/>
            <a:gdLst/>
            <a:ahLst/>
            <a:cxnLst/>
            <a:rect l="l" t="t" r="r" b="b"/>
            <a:pathLst>
              <a:path w="3024000" h="3158225">
                <a:moveTo>
                  <a:pt x="0" y="0"/>
                </a:moveTo>
                <a:lnTo>
                  <a:pt x="3024000" y="0"/>
                </a:lnTo>
                <a:lnTo>
                  <a:pt x="3024000" y="3158224"/>
                </a:lnTo>
                <a:lnTo>
                  <a:pt x="0" y="31582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95B8E0F0-0C8E-AA18-87BD-0DF2F5EE9092}"/>
              </a:ext>
            </a:extLst>
          </p:cNvPr>
          <p:cNvSpPr/>
          <p:nvPr/>
        </p:nvSpPr>
        <p:spPr>
          <a:xfrm>
            <a:off x="9174162" y="3732679"/>
            <a:ext cx="652158" cy="1156821"/>
          </a:xfrm>
          <a:custGeom>
            <a:avLst/>
            <a:gdLst/>
            <a:ahLst/>
            <a:cxnLst/>
            <a:rect l="l" t="t" r="r" b="b"/>
            <a:pathLst>
              <a:path w="2411046" h="4276800">
                <a:moveTo>
                  <a:pt x="0" y="0"/>
                </a:moveTo>
                <a:lnTo>
                  <a:pt x="2411046" y="0"/>
                </a:lnTo>
                <a:lnTo>
                  <a:pt x="2411046" y="4276800"/>
                </a:lnTo>
                <a:lnTo>
                  <a:pt x="0" y="4276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116D02-1A22-53C4-93FB-DC6160392763}"/>
              </a:ext>
            </a:extLst>
          </p:cNvPr>
          <p:cNvSpPr txBox="1"/>
          <p:nvPr/>
        </p:nvSpPr>
        <p:spPr>
          <a:xfrm>
            <a:off x="5044515" y="1520088"/>
            <a:ext cx="95046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Number of </a:t>
            </a:r>
            <a:r>
              <a:rPr lang="en-US" altLang="zh-CN" sz="3200" b="1" dirty="0">
                <a:solidFill>
                  <a:schemeClr val="accent2">
                    <a:lumMod val="75000"/>
                  </a:schemeClr>
                </a:solidFill>
              </a:rPr>
              <a:t>Arrests</a:t>
            </a:r>
            <a:r>
              <a:rPr lang="en-US" altLang="zh-CN" sz="3200" b="1" baseline="0" dirty="0">
                <a:solidFill>
                  <a:schemeClr val="accent2">
                    <a:lumMod val="75000"/>
                  </a:schemeClr>
                </a:solidFill>
              </a:rPr>
              <a:t> by Race and Season </a:t>
            </a:r>
            <a:br>
              <a:rPr lang="en-US" altLang="zh-CN" sz="3200" b="1" baseline="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altLang="zh-CN" sz="2800" b="1" baseline="0" dirty="0">
                <a:solidFill>
                  <a:schemeClr val="accent2">
                    <a:lumMod val="75000"/>
                  </a:schemeClr>
                </a:solidFill>
              </a:rPr>
              <a:t>(2020-2021)</a:t>
            </a:r>
            <a:endParaRPr 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2662C7-40DF-0D7F-C94B-4692525C3236}"/>
              </a:ext>
            </a:extLst>
          </p:cNvPr>
          <p:cNvSpPr txBox="1"/>
          <p:nvPr/>
        </p:nvSpPr>
        <p:spPr>
          <a:xfrm>
            <a:off x="5540692" y="6306602"/>
            <a:ext cx="152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/>
              <a:t>Total</a:t>
            </a:r>
            <a:r>
              <a:rPr lang="en-US" altLang="zh-CN" sz="1600" b="1" dirty="0"/>
              <a:t>: 2,4751 </a:t>
            </a:r>
            <a:endParaRPr lang="en-US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EF6491-DC56-93FF-FD65-C6C146412320}"/>
              </a:ext>
            </a:extLst>
          </p:cNvPr>
          <p:cNvSpPr txBox="1"/>
          <p:nvPr/>
        </p:nvSpPr>
        <p:spPr>
          <a:xfrm>
            <a:off x="10518525" y="6306602"/>
            <a:ext cx="152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/>
              <a:t>Total</a:t>
            </a:r>
            <a:r>
              <a:rPr lang="en-US" altLang="zh-CN" sz="1600" b="1" dirty="0"/>
              <a:t>: 8,263 </a:t>
            </a:r>
            <a:endParaRPr lang="en-US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FCD65E-80D3-86CD-28D6-411EC60EDCFC}"/>
              </a:ext>
            </a:extLst>
          </p:cNvPr>
          <p:cNvSpPr txBox="1"/>
          <p:nvPr/>
        </p:nvSpPr>
        <p:spPr>
          <a:xfrm>
            <a:off x="5542756" y="3327821"/>
            <a:ext cx="152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/>
              <a:t>Total</a:t>
            </a:r>
            <a:r>
              <a:rPr lang="en-US" altLang="zh-CN" sz="1600" b="1" dirty="0"/>
              <a:t>: 7,228 </a:t>
            </a:r>
            <a:endParaRPr lang="en-US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BF86BE-25D9-9FF3-D3AD-6E68AB8905C5}"/>
              </a:ext>
            </a:extLst>
          </p:cNvPr>
          <p:cNvSpPr txBox="1"/>
          <p:nvPr/>
        </p:nvSpPr>
        <p:spPr>
          <a:xfrm>
            <a:off x="10518525" y="3327297"/>
            <a:ext cx="152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/>
              <a:t>Total</a:t>
            </a:r>
            <a:r>
              <a:rPr lang="en-US" altLang="zh-CN" sz="1600" b="1" dirty="0"/>
              <a:t>: 8,447</a:t>
            </a:r>
            <a:endParaRPr lang="en-US" sz="1600" b="1" dirty="0"/>
          </a:p>
        </p:txBody>
      </p:sp>
      <p:sp>
        <p:nvSpPr>
          <p:cNvPr id="22" name="Freeform 15">
            <a:extLst>
              <a:ext uri="{FF2B5EF4-FFF2-40B4-BE49-F238E27FC236}">
                <a16:creationId xmlns:a16="http://schemas.microsoft.com/office/drawing/2014/main" id="{18CB43FD-2FE0-F791-51EA-51880C5E9CEE}"/>
              </a:ext>
            </a:extLst>
          </p:cNvPr>
          <p:cNvSpPr/>
          <p:nvPr/>
        </p:nvSpPr>
        <p:spPr>
          <a:xfrm rot="751973" flipH="1">
            <a:off x="13615029" y="5540453"/>
            <a:ext cx="1214192" cy="1385204"/>
          </a:xfrm>
          <a:custGeom>
            <a:avLst/>
            <a:gdLst/>
            <a:ahLst/>
            <a:cxnLst/>
            <a:rect l="l" t="t" r="r" b="b"/>
            <a:pathLst>
              <a:path w="3024000" h="3885981">
                <a:moveTo>
                  <a:pt x="0" y="0"/>
                </a:moveTo>
                <a:lnTo>
                  <a:pt x="3024000" y="0"/>
                </a:lnTo>
                <a:lnTo>
                  <a:pt x="3024000" y="3885982"/>
                </a:lnTo>
                <a:lnTo>
                  <a:pt x="0" y="38859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698972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403C4F-8E5C-6EFE-3AB6-F32744B5DC0B}"/>
              </a:ext>
            </a:extLst>
          </p:cNvPr>
          <p:cNvSpPr/>
          <p:nvPr/>
        </p:nvSpPr>
        <p:spPr>
          <a:xfrm>
            <a:off x="4133056" y="1651000"/>
            <a:ext cx="10744200" cy="7391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0B6F26-70EA-CC9F-403C-D3F02812D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300" y="1874727"/>
            <a:ext cx="10339712" cy="69439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C6C968-E615-5CF8-1C95-768AFACAE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514" y="1804604"/>
            <a:ext cx="10742083" cy="738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820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43</Words>
  <Application>Microsoft Office PowerPoint</Application>
  <PresentationFormat>Custom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Yitong Zhao</cp:lastModifiedBy>
  <cp:revision>3</cp:revision>
  <dcterms:created xsi:type="dcterms:W3CDTF">2006-08-16T00:00:00Z</dcterms:created>
  <dcterms:modified xsi:type="dcterms:W3CDTF">2025-05-08T18:02:28Z</dcterms:modified>
  <dc:identifier>DAGgotXgL3U</dc:identifier>
</cp:coreProperties>
</file>